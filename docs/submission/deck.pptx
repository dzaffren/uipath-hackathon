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3238"/>
              </a:gs>
              <a:gs pos="100000">
                <a:srgbClr val="071013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468880"/>
            <a:ext cx="100584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9">
                <a:solidFill>
                  <a:srgbClr val="3AD6C8"/>
                </a:solidFill>
                <a:latin typeface="Arial"/>
              </a:rPr>
              <a:t>UIPATH AGENTHACK 2026 — TRACK 2 · MAESTRO BPMN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0" b="1">
                <a:solidFill>
                  <a:srgbClr val="EEF4F4"/>
                </a:solidFill>
                <a:latin typeface="Arial"/>
              </a:rPr>
              <a:t>Aurora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370832"/>
            <a:ext cx="10058400" cy="7315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C4D2D4"/>
                </a:solidFill>
                <a:latin typeface="Arial"/>
              </a:rPr>
              <a:t>Defensible </a:t>
            </a:r>
            <a:r>
              <a:rPr sz="3400" b="1">
                <a:solidFill>
                  <a:srgbClr val="FF5A2C"/>
                </a:solidFill>
                <a:latin typeface="Arial"/>
              </a:rPr>
              <a:t>AML alert triage.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7132320" cy="8229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9A9E"/>
                </a:solidFill>
                <a:latin typeface="Arial"/>
              </a:rPr>
              <a:t>Every escalate-or-close decision — cited, verified, and audit-ready by construction.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72200"/>
            <a:ext cx="7315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AD6C8"/>
                </a:solidFill>
                <a:latin typeface="Arial"/>
              </a:rPr>
              <a:t>github.com/dzaffren/uipath-hackathon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27080" y="5806440"/>
            <a:ext cx="274320" cy="274320"/>
          </a:xfrm>
          <a:prstGeom prst="rect">
            <a:avLst/>
          </a:prstGeom>
          <a:solidFill>
            <a:srgbClr val="FF5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56263" y="5806440"/>
            <a:ext cx="274320" cy="274320"/>
          </a:xfrm>
          <a:prstGeom prst="rect">
            <a:avLst/>
          </a:prstGeom>
          <a:solidFill>
            <a:srgbClr val="1FB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27080" y="6135624"/>
            <a:ext cx="274320" cy="274320"/>
          </a:xfrm>
          <a:prstGeom prst="rect">
            <a:avLst/>
          </a:prstGeom>
          <a:solidFill>
            <a:srgbClr val="3A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365760"/>
            <a:ext cx="237744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/>
            <a:r>
              <a:rPr sz="2100" b="1">
                <a:solidFill>
                  <a:srgbClr val="EEF4F4"/>
                </a:solidFill>
                <a:latin typeface="Arial"/>
              </a:rPr>
              <a:t>UiPath</a:t>
            </a:r>
            <a:r>
              <a:rPr sz="1000">
                <a:solidFill>
                  <a:srgbClr val="FF5A2C"/>
                </a:solidFill>
              </a:rPr>
              <a:t>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3238"/>
              </a:gs>
              <a:gs pos="100000">
                <a:srgbClr val="071013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100584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9">
                <a:solidFill>
                  <a:srgbClr val="3AD6C8"/>
                </a:solidFill>
                <a:latin typeface="Arial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41248"/>
            <a:ext cx="10058400" cy="7772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EF4F4"/>
                </a:solidFill>
                <a:latin typeface="Arial"/>
              </a:rPr>
              <a:t>Problem &amp;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3328" y="1783080"/>
            <a:ext cx="10972" cy="4206240"/>
          </a:xfrm>
          <a:prstGeom prst="rect">
            <a:avLst/>
          </a:prstGeom>
          <a:solidFill>
            <a:srgbClr val="2A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FF5A2C"/>
                </a:solidFill>
                <a:latin typeface="Arial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937760" cy="3840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>
                <a:solidFill>
                  <a:srgbClr val="FF5A2C"/>
                </a:solidFill>
                <a:latin typeface="Arial"/>
              </a:rPr>
              <a:t>●  </a:t>
            </a:r>
            <a:r>
              <a:rPr sz="1450" b="1">
                <a:solidFill>
                  <a:srgbClr val="EEF4F4"/>
                </a:solidFill>
                <a:latin typeface="Arial"/>
              </a:rPr>
              <a:t>Thin rationale.</a:t>
            </a:r>
            <a:r>
              <a:rPr sz="1450" b="0">
                <a:solidFill>
                  <a:srgbClr val="869A9E"/>
                </a:solidFill>
                <a:latin typeface="Arial"/>
              </a:rPr>
              <a:t> The recorded close/escalate reason is one line — it can't be defended when a regulator reviews it a year later.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>
                <a:solidFill>
                  <a:srgbClr val="FF5A2C"/>
                </a:solidFill>
                <a:latin typeface="Arial"/>
              </a:rPr>
              <a:t>●  </a:t>
            </a:r>
            <a:r>
              <a:rPr sz="1450" b="1">
                <a:solidFill>
                  <a:srgbClr val="EEF4F4"/>
                </a:solidFill>
                <a:latin typeface="Arial"/>
              </a:rPr>
              <a:t>Scattered evidence.</a:t>
            </a:r>
            <a:r>
              <a:rPr sz="1450" b="0">
                <a:solidFill>
                  <a:srgbClr val="869A9E"/>
                </a:solidFill>
                <a:latin typeface="Arial"/>
              </a:rPr>
              <a:t> KYC, transactions, sanctions/PEP and adverse media sit in separate systems; assembling them eats the time meant for judgment.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>
                <a:solidFill>
                  <a:srgbClr val="FF5A2C"/>
                </a:solidFill>
                <a:latin typeface="Arial"/>
              </a:rPr>
              <a:t>●  </a:t>
            </a:r>
            <a:r>
              <a:rPr sz="1450" b="1">
                <a:solidFill>
                  <a:srgbClr val="EEF4F4"/>
                </a:solidFill>
                <a:latin typeface="Arial"/>
              </a:rPr>
              <a:t>Inconsistent calls.</a:t>
            </a:r>
            <a:r>
              <a:rPr sz="1450" b="0">
                <a:solidFill>
                  <a:srgbClr val="869A9E"/>
                </a:solidFill>
                <a:latin typeface="Arial"/>
              </a:rPr>
              <a:t> Outcomes vary by analyst, and the high-volume low-risk bucket is a governance blind spot.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5720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3AD6C8"/>
                </a:solidFill>
                <a:latin typeface="Arial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983480" cy="40233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3AD6C8"/>
                </a:solidFill>
                <a:latin typeface="Arial"/>
              </a:rPr>
              <a:t>●  </a:t>
            </a:r>
            <a:r>
              <a:rPr sz="1450" b="1">
                <a:solidFill>
                  <a:srgbClr val="EEF4F4"/>
                </a:solidFill>
                <a:latin typeface="Arial"/>
              </a:rPr>
              <a:t>Risk-tier BPMN flow.</a:t>
            </a:r>
            <a:r>
              <a:rPr sz="1450" b="0">
                <a:solidFill>
                  <a:srgbClr val="869A9E"/>
                </a:solidFill>
                <a:latin typeface="Arial"/>
              </a:rPr>
              <a:t> Maestro routes every alert to proportional human review.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3AD6C8"/>
                </a:solidFill>
                <a:latin typeface="Arial"/>
              </a:rPr>
              <a:t>●  </a:t>
            </a:r>
            <a:r>
              <a:rPr sz="1450" b="1">
                <a:solidFill>
                  <a:srgbClr val="EEF4F4"/>
                </a:solidFill>
                <a:latin typeface="Arial"/>
              </a:rPr>
              <a:t>Validated citations.</a:t>
            </a:r>
            <a:r>
              <a:rPr sz="1450" b="0">
                <a:solidFill>
                  <a:srgbClr val="869A9E"/>
                </a:solidFill>
                <a:latin typeface="Arial"/>
              </a:rPr>
              <a:t> The agent cites only real evidence IDs — invented citations are flagged before a human sees them.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3AD6C8"/>
                </a:solidFill>
                <a:latin typeface="Arial"/>
              </a:rPr>
              <a:t>●  </a:t>
            </a:r>
            <a:r>
              <a:rPr sz="1450" b="1">
                <a:solidFill>
                  <a:srgbClr val="EEF4F4"/>
                </a:solidFill>
                <a:latin typeface="Arial"/>
              </a:rPr>
              <a:t>Maker–checker on high-risk.</a:t>
            </a:r>
            <a:r>
              <a:rPr sz="1450" b="0">
                <a:solidFill>
                  <a:srgbClr val="869A9E"/>
                </a:solidFill>
                <a:latin typeface="Arial"/>
              </a:rPr>
              <a:t> A challenger disputes the call · sign/override on medium · batch sign-off + 5% QA on low.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3AD6C8"/>
                </a:solidFill>
                <a:latin typeface="Arial"/>
              </a:rPr>
              <a:t>●  </a:t>
            </a:r>
            <a:r>
              <a:rPr sz="1450" b="1">
                <a:solidFill>
                  <a:srgbClr val="EEF4F4"/>
                </a:solidFill>
                <a:latin typeface="Arial"/>
              </a:rPr>
              <a:t>Conservative by construction.</a:t>
            </a:r>
            <a:r>
              <a:rPr sz="1450" b="0">
                <a:solidFill>
                  <a:srgbClr val="869A9E"/>
                </a:solidFill>
                <a:latin typeface="Arial"/>
              </a:rPr>
              <a:t> Red-flag overrides + a confidence floor, and an append-only audit record.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3AD6C8"/>
              </a:gs>
              <a:gs pos="100000">
                <a:srgbClr val="FF5A2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50">
                <a:solidFill>
                  <a:srgbClr val="56686C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65760"/>
            <a:ext cx="237744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/>
            <a:r>
              <a:rPr sz="2100" b="1">
                <a:solidFill>
                  <a:srgbClr val="EEF4F4"/>
                </a:solidFill>
                <a:latin typeface="Arial"/>
              </a:rPr>
              <a:t>UiPath</a:t>
            </a:r>
            <a:r>
              <a:rPr sz="1000">
                <a:solidFill>
                  <a:srgbClr val="FF5A2C"/>
                </a:solidFill>
              </a:rPr>
              <a:t>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3238"/>
              </a:gs>
              <a:gs pos="100000">
                <a:srgbClr val="071013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100584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9">
                <a:solidFill>
                  <a:srgbClr val="3AD6C8"/>
                </a:solidFill>
                <a:latin typeface="Arial"/>
              </a:rPr>
              <a:t>VALIDATED ON A PUBLIC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2377440" cy="1737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>
              <a:spcAft>
                <a:spcPts val="0"/>
              </a:spcAft>
            </a:pPr>
            <a:r>
              <a:rPr sz="11000" b="1">
                <a:solidFill>
                  <a:srgbClr val="EEF4F4"/>
                </a:solidFill>
                <a:latin typeface="Arial"/>
              </a:rPr>
              <a:t>8</a:t>
            </a:r>
            <a:r>
              <a:rPr sz="11000" b="1">
                <a:solidFill>
                  <a:srgbClr val="3AD6C8"/>
                </a:solidFill>
                <a:latin typeface="Arial"/>
              </a:rPr>
              <a:t>/</a:t>
            </a:r>
            <a:r>
              <a:rPr sz="11000" b="1">
                <a:solidFill>
                  <a:srgbClr val="EEF4F4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371600"/>
            <a:ext cx="2286000" cy="12801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4D2D4"/>
                </a:solidFill>
                <a:latin typeface="Arial"/>
              </a:rPr>
              <a:t>exact risk-tier matches on the golden set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69A9E"/>
                </a:solidFill>
                <a:latin typeface="Arial"/>
              </a:rPr>
              <a:t>~11.6 s / scenario · SAML-D (MIT)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234440"/>
            <a:ext cx="2377440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5A2C"/>
                </a:solidFill>
                <a:latin typeface="Arial"/>
              </a:rPr>
              <a:t>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69A9E"/>
                </a:solidFill>
                <a:latin typeface="Arial"/>
              </a:rPr>
              <a:t>hallucinated citations reach a human (GS-03)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234440"/>
            <a:ext cx="2377440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EF4F4"/>
                </a:solidFill>
                <a:latin typeface="Arial"/>
              </a:rPr>
              <a:t>100%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69A9E"/>
                </a:solidFill>
                <a:latin typeface="Arial"/>
              </a:rPr>
              <a:t>decisions closed with a named, accountable human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200400"/>
            <a:ext cx="10469880" cy="10972"/>
          </a:xfrm>
          <a:prstGeom prst="rect">
            <a:avLst/>
          </a:prstGeom>
          <a:solidFill>
            <a:srgbClr val="2A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12344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AD6C8"/>
                </a:solidFill>
                <a:latin typeface="Arial"/>
              </a:rPr>
              <a:t>BUILT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39" y="3474720"/>
            <a:ext cx="3657600" cy="7315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D2D4"/>
                </a:solidFill>
                <a:latin typeface="Arial"/>
              </a:rPr>
              <a:t>AML investigators · QA supervisors · senior &amp; EDD reviewers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474720"/>
            <a:ext cx="12344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AD6C8"/>
                </a:solidFill>
                <a:latin typeface="Arial"/>
              </a:rPr>
              <a:t>UIPATH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474720"/>
            <a:ext cx="3657600" cy="7315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D2D4"/>
                </a:solidFill>
                <a:latin typeface="Arial"/>
              </a:rPr>
              <a:t>Maestro · Agent Builder · Action Center · Data Fabric · API Workflows · Automation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2344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AD6C8"/>
                </a:solidFill>
                <a:latin typeface="Arial"/>
              </a:rPr>
              <a:t>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39" y="4160520"/>
            <a:ext cx="3657600" cy="7315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D2D4"/>
                </a:solidFill>
                <a:latin typeface="Arial"/>
              </a:rPr>
              <a:t>Financial-Crime / AML Compliance &amp; Supervision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160520"/>
            <a:ext cx="12344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AD6C8"/>
                </a:solidFill>
                <a:latin typeface="Arial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160520"/>
            <a:ext cx="3657600" cy="7315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D2D4"/>
                </a:solidFill>
                <a:latin typeface="Arial"/>
              </a:rPr>
              <a:t>Claude (Anthropic) · Claude Code + uip CLI · Python · SAML-D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12344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AD6C8"/>
                </a:solidFill>
                <a:latin typeface="Arial"/>
              </a:rPr>
              <a:t>INDUSTRIES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39" y="4846320"/>
            <a:ext cx="3657600" cy="7315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D2D4"/>
                </a:solidFill>
                <a:latin typeface="Arial"/>
              </a:rPr>
              <a:t>Banking · Financial Services · Central-bank supervision / RegTech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46320"/>
            <a:ext cx="12344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AD6C8"/>
                </a:solidFill>
                <a:latin typeface="Arial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846320"/>
            <a:ext cx="3657600" cy="7315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D2D4"/>
                </a:solidFill>
                <a:latin typeface="Arial"/>
              </a:rPr>
              <a:t>Cited, audit-defensible rationale — doubt always resolves upward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3AD6C8"/>
              </a:gs>
              <a:gs pos="100000">
                <a:srgbClr val="FF5A2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50">
                <a:solidFill>
                  <a:srgbClr val="56686C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65760"/>
            <a:ext cx="237744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/>
            <a:r>
              <a:rPr sz="2100" b="1">
                <a:solidFill>
                  <a:srgbClr val="EEF4F4"/>
                </a:solidFill>
                <a:latin typeface="Arial"/>
              </a:rPr>
              <a:t>UiPath</a:t>
            </a:r>
            <a:r>
              <a:rPr sz="1000">
                <a:solidFill>
                  <a:srgbClr val="FF5A2C"/>
                </a:solidFill>
              </a:rPr>
              <a:t>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3238"/>
              </a:gs>
              <a:gs pos="100000">
                <a:srgbClr val="071013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100584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9">
                <a:solidFill>
                  <a:srgbClr val="3AD6C8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41248"/>
            <a:ext cx="10058400" cy="7772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EF4F4"/>
                </a:solidFill>
                <a:latin typeface="Arial"/>
              </a:rPr>
              <a:t>Solution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371600" cy="731520"/>
          </a:xfrm>
          <a:prstGeom prst="roundRect">
            <a:avLst/>
          </a:prstGeom>
          <a:solidFill>
            <a:srgbClr val="14252B"/>
          </a:solidFill>
          <a:ln w="15875">
            <a:solidFill>
              <a:srgbClr val="2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D2D4"/>
                </a:solidFill>
                <a:latin typeface="Arial"/>
              </a:rPr>
              <a:t>Alert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783080"/>
            <a:ext cx="2011680" cy="731520"/>
          </a:xfrm>
          <a:prstGeom prst="roundRect">
            <a:avLst/>
          </a:prstGeom>
          <a:solidFill>
            <a:srgbClr val="14252B"/>
          </a:solidFill>
          <a:ln w="15875">
            <a:solidFill>
              <a:srgbClr val="3A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F4F4"/>
                </a:solidFill>
                <a:latin typeface="Arial"/>
              </a:rPr>
              <a:t>Evidence Gather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D6C8"/>
                </a:solidFill>
                <a:latin typeface="Arial"/>
              </a:rPr>
              <a:t>IDed bundle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783080"/>
            <a:ext cx="2011680" cy="731520"/>
          </a:xfrm>
          <a:prstGeom prst="roundRect">
            <a:avLst/>
          </a:prstGeom>
          <a:solidFill>
            <a:srgbClr val="14252B"/>
          </a:solidFill>
          <a:ln w="15875">
            <a:solidFill>
              <a:srgbClr val="3A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F4F4"/>
                </a:solidFill>
                <a:latin typeface="Arial"/>
              </a:rPr>
              <a:t>Triage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D6C8"/>
                </a:solidFill>
                <a:latin typeface="Arial"/>
              </a:rPr>
              <a:t>tier · conf · cites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783080"/>
            <a:ext cx="2011680" cy="731520"/>
          </a:xfrm>
          <a:prstGeom prst="roundRect">
            <a:avLst/>
          </a:prstGeom>
          <a:solidFill>
            <a:srgbClr val="14252B"/>
          </a:solidFill>
          <a:ln w="15875">
            <a:solidFill>
              <a:srgbClr val="FF5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F4F4"/>
                </a:solidFill>
                <a:latin typeface="Arial"/>
              </a:rPr>
              <a:t>Decision Gate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5A2C"/>
                </a:solidFill>
                <a:latin typeface="Arial"/>
              </a:rPr>
              <a:t>red-flag +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783080"/>
            <a:ext cx="548640" cy="7315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AD6C8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548640" cy="7315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AD6C8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783080"/>
            <a:ext cx="548640" cy="7315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AD6C8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43200"/>
            <a:ext cx="3392424" cy="1691640"/>
          </a:xfrm>
          <a:prstGeom prst="roundRect">
            <a:avLst/>
          </a:prstGeom>
          <a:solidFill>
            <a:srgbClr val="14252B"/>
          </a:solidFill>
          <a:ln w="12700">
            <a:solidFill>
              <a:srgbClr val="2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2743200"/>
            <a:ext cx="3355848" cy="54864"/>
          </a:xfrm>
          <a:prstGeom prst="rect">
            <a:avLst/>
          </a:prstGeom>
          <a:solidFill>
            <a:srgbClr val="2BD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2907792"/>
            <a:ext cx="868680" cy="292608"/>
          </a:xfrm>
          <a:prstGeom prst="roundRect">
            <a:avLst/>
          </a:prstGeom>
          <a:solidFill>
            <a:srgbClr val="2BD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06120E"/>
                </a:solidFill>
                <a:latin typeface="Arial"/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889504"/>
            <a:ext cx="2194560" cy="32918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F4F4"/>
                </a:solidFill>
                <a:latin typeface="Arial"/>
              </a:rPr>
              <a:t>Batch sign-off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310128"/>
            <a:ext cx="3063240" cy="1097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AD6C8"/>
                </a:solidFill>
                <a:latin typeface="Arial"/>
              </a:rPr>
              <a:t>›  </a:t>
            </a:r>
            <a:r>
              <a:rPr sz="1250" b="0">
                <a:solidFill>
                  <a:srgbClr val="C4D2D4"/>
                </a:solidFill>
                <a:latin typeface="Arial"/>
              </a:rPr>
              <a:t>BatchPartition: auto-disposition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AD6C8"/>
                </a:solidFill>
                <a:latin typeface="Arial"/>
              </a:rPr>
              <a:t>›  </a:t>
            </a:r>
            <a:r>
              <a:rPr sz="1250" b="0">
                <a:solidFill>
                  <a:srgbClr val="C4D2D4"/>
                </a:solidFill>
                <a:latin typeface="Arial"/>
              </a:rPr>
              <a:t>Sample 5% + all ≥ RM 250k pulled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AD6C8"/>
                </a:solidFill>
                <a:latin typeface="Arial"/>
              </a:rPr>
              <a:t>›  </a:t>
            </a:r>
            <a:r>
              <a:rPr sz="1250" b="0">
                <a:solidFill>
                  <a:srgbClr val="C4D2D4"/>
                </a:solidFill>
                <a:latin typeface="Arial"/>
              </a:rPr>
              <a:t>Supervisor signs the batch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8264" y="2743200"/>
            <a:ext cx="3392424" cy="1691640"/>
          </a:xfrm>
          <a:prstGeom prst="roundRect">
            <a:avLst/>
          </a:prstGeom>
          <a:solidFill>
            <a:srgbClr val="14252B"/>
          </a:solidFill>
          <a:ln w="12700">
            <a:solidFill>
              <a:srgbClr val="2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6551" y="2743200"/>
            <a:ext cx="3355848" cy="54864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81144" y="2907792"/>
            <a:ext cx="868680" cy="292608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06120E"/>
                </a:solidFill>
                <a:latin typeface="Arial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2889504"/>
            <a:ext cx="2194560" cy="32918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F4F4"/>
                </a:solidFill>
                <a:latin typeface="Arial"/>
              </a:rPr>
              <a:t>Analyst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1" y="3310128"/>
            <a:ext cx="3063240" cy="1097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AD6C8"/>
                </a:solidFill>
                <a:latin typeface="Arial"/>
              </a:rPr>
              <a:t>›  </a:t>
            </a:r>
            <a:r>
              <a:rPr sz="1250" b="0">
                <a:solidFill>
                  <a:srgbClr val="C4D2D4"/>
                </a:solidFill>
                <a:latin typeface="Arial"/>
              </a:rPr>
              <a:t>Action Center task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AD6C8"/>
                </a:solidFill>
                <a:latin typeface="Arial"/>
              </a:rPr>
              <a:t>›  </a:t>
            </a:r>
            <a:r>
              <a:rPr sz="1250" b="0">
                <a:solidFill>
                  <a:srgbClr val="C4D2D4"/>
                </a:solidFill>
                <a:latin typeface="Arial"/>
              </a:rPr>
              <a:t>Sign or override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AD6C8"/>
                </a:solidFill>
                <a:latin typeface="Arial"/>
              </a:rPr>
              <a:t>›  </a:t>
            </a:r>
            <a:r>
              <a:rPr sz="1250" b="0">
                <a:solidFill>
                  <a:srgbClr val="C4D2D4"/>
                </a:solidFill>
                <a:latin typeface="Arial"/>
              </a:rPr>
              <a:t>Override needs written reason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2743200"/>
            <a:ext cx="3392424" cy="1691640"/>
          </a:xfrm>
          <a:prstGeom prst="roundRect">
            <a:avLst/>
          </a:prstGeom>
          <a:solidFill>
            <a:srgbClr val="14252B"/>
          </a:solidFill>
          <a:ln w="12700">
            <a:solidFill>
              <a:srgbClr val="2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1856" y="2743200"/>
            <a:ext cx="3355848" cy="54864"/>
          </a:xfrm>
          <a:prstGeom prst="rect">
            <a:avLst/>
          </a:prstGeom>
          <a:solidFill>
            <a:srgbClr val="FF5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56448" y="2907792"/>
            <a:ext cx="868680" cy="292608"/>
          </a:xfrm>
          <a:prstGeom prst="roundRect">
            <a:avLst/>
          </a:prstGeom>
          <a:solidFill>
            <a:srgbClr val="FF5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06120E"/>
                </a:solidFill>
                <a:latin typeface="Arial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889504"/>
            <a:ext cx="2194560" cy="32918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F4F4"/>
                </a:solidFill>
                <a:latin typeface="Arial"/>
              </a:rPr>
              <a:t>Maker–checker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3310128"/>
            <a:ext cx="3063240" cy="1097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AD6C8"/>
                </a:solidFill>
                <a:latin typeface="Arial"/>
              </a:rPr>
              <a:t>›  </a:t>
            </a:r>
            <a:r>
              <a:rPr sz="1250" b="0">
                <a:solidFill>
                  <a:srgbClr val="C4D2D4"/>
                </a:solidFill>
                <a:latin typeface="Arial"/>
              </a:rPr>
              <a:t>Challenger disputes the call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AD6C8"/>
                </a:solidFill>
                <a:latin typeface="Arial"/>
              </a:rPr>
              <a:t>›  </a:t>
            </a:r>
            <a:r>
              <a:rPr sz="1250" b="0">
                <a:solidFill>
                  <a:srgbClr val="C4D2D4"/>
                </a:solidFill>
                <a:latin typeface="Arial"/>
              </a:rPr>
              <a:t>Senior / EDD reviewer decides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AD6C8"/>
                </a:solidFill>
                <a:latin typeface="Arial"/>
              </a:rPr>
              <a:t>›  </a:t>
            </a:r>
            <a:r>
              <a:rPr sz="1250" b="0">
                <a:solidFill>
                  <a:srgbClr val="C4D2D4"/>
                </a:solidFill>
                <a:latin typeface="Arial"/>
              </a:rPr>
              <a:t>Forced by any red flag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09160"/>
            <a:ext cx="502920" cy="7315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AD6C8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4617720"/>
            <a:ext cx="8595360" cy="731520"/>
          </a:xfrm>
          <a:prstGeom prst="roundRect">
            <a:avLst/>
          </a:prstGeom>
          <a:gradFill rotWithShape="1">
            <a:gsLst>
              <a:gs pos="0">
                <a:srgbClr val="10333A"/>
              </a:gs>
              <a:gs pos="100000">
                <a:srgbClr val="0C2025"/>
              </a:gs>
            </a:gsLst>
            <a:lin scaled="0" ang="0"/>
          </a:gradFill>
          <a:ln w="12700">
            <a:solidFill>
              <a:srgbClr val="3A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F4F4"/>
                </a:solidFill>
                <a:latin typeface="Arial"/>
              </a:rPr>
              <a:t>Audit Write → DecisionRecord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4D2D4"/>
                </a:solidFill>
                <a:latin typeface="Arial"/>
              </a:rPr>
              <a:t>append-only · names the accountable human, route taken, outcome, any correction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5A2C"/>
                </a:solidFill>
                <a:latin typeface="Arial"/>
              </a:rPr>
              <a:t>Conservative by construction:</a:t>
            </a:r>
            <a:r>
              <a:rPr sz="1150" b="0">
                <a:solidFill>
                  <a:srgbClr val="869A9E"/>
                </a:solidFill>
                <a:latin typeface="Arial"/>
              </a:rPr>
              <a:t> any sanctions/PEP hit, structuring pattern, or watchlist jurisdiction forces the HIGH route regardless of the agent; a confidence floor sends anything not strongly low up to a human.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053328"/>
            <a:ext cx="100584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AD6C8"/>
                </a:solidFill>
                <a:latin typeface="Arial"/>
              </a:rPr>
              <a:t>github.com/dzaffren/uipath-hackathon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3AD6C8"/>
              </a:gs>
              <a:gs pos="100000">
                <a:srgbClr val="FF5A2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50">
                <a:solidFill>
                  <a:srgbClr val="56686C"/>
                </a:solidFill>
                <a:latin typeface="Arial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65760"/>
            <a:ext cx="237744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/>
            <a:r>
              <a:rPr sz="2100" b="1">
                <a:solidFill>
                  <a:srgbClr val="EEF4F4"/>
                </a:solidFill>
                <a:latin typeface="Arial"/>
              </a:rPr>
              <a:t>UiPath</a:t>
            </a:r>
            <a:r>
              <a:rPr sz="1000">
                <a:solidFill>
                  <a:srgbClr val="FF5A2C"/>
                </a:solidFill>
              </a:rPr>
              <a:t>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3238"/>
              </a:gs>
              <a:gs pos="100000">
                <a:srgbClr val="071013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00584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9">
                <a:solidFill>
                  <a:srgbClr val="3AD6C8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23774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EEF4F4"/>
                </a:solidFill>
                <a:latin typeface="Arial"/>
              </a:rPr>
              <a:t>Defensible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8400" b="1">
                <a:solidFill>
                  <a:srgbClr val="EEF4F4"/>
                </a:solidFill>
                <a:latin typeface="Arial"/>
              </a:rPr>
              <a:t>by construction</a:t>
            </a:r>
            <a:r>
              <a:rPr sz="8400" b="1">
                <a:solidFill>
                  <a:srgbClr val="FF5A2C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66360"/>
            <a:ext cx="100584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4D2D4"/>
                </a:solidFill>
                <a:latin typeface="Arial"/>
              </a:rPr>
              <a:t>Aurora Verdict — AML alert triage, built with Claude Code on UiPath.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69280"/>
            <a:ext cx="7315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AD6C8"/>
                </a:solidFill>
                <a:latin typeface="Arial"/>
              </a:rPr>
              <a:t>github.com/dzaffren/uipath-hackathon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6172200"/>
            <a:ext cx="274320" cy="274320"/>
          </a:xfrm>
          <a:prstGeom prst="rect">
            <a:avLst/>
          </a:prstGeom>
          <a:solidFill>
            <a:srgbClr val="3A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6501384"/>
            <a:ext cx="274320" cy="274320"/>
          </a:xfrm>
          <a:prstGeom prst="rect">
            <a:avLst/>
          </a:prstGeom>
          <a:solidFill>
            <a:srgbClr val="FF5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7864" y="6501384"/>
            <a:ext cx="274320" cy="274320"/>
          </a:xfrm>
          <a:prstGeom prst="rect">
            <a:avLst/>
          </a:prstGeom>
          <a:solidFill>
            <a:srgbClr val="1FB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365760"/>
            <a:ext cx="237744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/>
            <a:r>
              <a:rPr sz="2100" b="1">
                <a:solidFill>
                  <a:srgbClr val="EEF4F4"/>
                </a:solidFill>
                <a:latin typeface="Arial"/>
              </a:rPr>
              <a:t>UiPath</a:t>
            </a:r>
            <a:r>
              <a:rPr sz="1000">
                <a:solidFill>
                  <a:srgbClr val="FF5A2C"/>
                </a:solidFill>
              </a:rPr>
              <a:t>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